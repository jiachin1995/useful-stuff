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4"/>
  </p:sldMasterIdLst>
  <p:notesMasterIdLst>
    <p:notesMasterId r:id="rId19"/>
  </p:notesMasterIdLst>
  <p:handoutMasterIdLst>
    <p:handoutMasterId r:id="rId20"/>
  </p:handoutMasterIdLst>
  <p:sldIdLst>
    <p:sldId id="595" r:id="rId5"/>
    <p:sldId id="721" r:id="rId6"/>
    <p:sldId id="720" r:id="rId7"/>
    <p:sldId id="717" r:id="rId8"/>
    <p:sldId id="722" r:id="rId9"/>
    <p:sldId id="723" r:id="rId10"/>
    <p:sldId id="730" r:id="rId11"/>
    <p:sldId id="727" r:id="rId12"/>
    <p:sldId id="728" r:id="rId13"/>
    <p:sldId id="725" r:id="rId14"/>
    <p:sldId id="724" r:id="rId15"/>
    <p:sldId id="729" r:id="rId16"/>
    <p:sldId id="726" r:id="rId17"/>
    <p:sldId id="71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569" autoAdjust="0"/>
  </p:normalViewPr>
  <p:slideViewPr>
    <p:cSldViewPr>
      <p:cViewPr varScale="1">
        <p:scale>
          <a:sx n="111" d="100"/>
          <a:sy n="111" d="100"/>
        </p:scale>
        <p:origin x="159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-2824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87E192-57F1-4148-89AD-752797267DB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21C18-14DA-B04D-9F6E-D0FD1242A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50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64E22-A7D4-42A4-AA02-43EABBFA1AF7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949BE-C9C2-4C73-B261-9E49607C02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73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SG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D5F71D-2ABE-4B04-A72D-9321B11B38E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592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8338-284D-45A4-A2C2-8C25C2666D9B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4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0" y="152400"/>
            <a:ext cx="7162800" cy="68580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GB" dirty="0">
              <a:solidFill>
                <a:schemeClr val="l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6038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B28B-26E8-4FFD-AAEE-34FD05E4170E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44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8FC82-8F35-4AF0-A44E-367D461AD9C3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5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FE3-A2E1-4F47-B29D-DB0100C90FBE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3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7452-F506-4DC5-88C2-EB3219E3BEF7}" type="datetime1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56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3D757-CF24-47AB-AB86-DB14D93847D3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4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FB51-C11D-4017-9053-74DB4FD31BEC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E587-D7D5-4FE3-9C61-47B725E1B8AA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2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CB028-673C-4962-93EF-7F2D2412155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9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F865-909F-445B-8AEB-D6C7977F6549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27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3528" y="2132856"/>
            <a:ext cx="8373616" cy="430993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Main Body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05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1FA4D-9A3C-4DBA-A876-964E281A5EBB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Product Team 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BEA3C-EBD8-6A49-92FF-780F56F6FF7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2362200" cy="1047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31772" y="1218703"/>
            <a:ext cx="6405631" cy="56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8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92250" y="77787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89000" y="65087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Intro to Ansible/Terraform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7485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04D0-F4FB-8B23-3306-080E7C52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Ansible?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93D12-45E4-9B06-2483-350FBF0B1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Role: </a:t>
            </a:r>
            <a:r>
              <a:rPr lang="en-US" sz="2400" dirty="0"/>
              <a:t>A multi-purpose Configuration Management engine focused on automating software installation and system settings. Ansible is also considered as an </a:t>
            </a:r>
            <a:r>
              <a:rPr lang="en-US" sz="2400" b="1" dirty="0"/>
              <a:t>Infrastructure-as-code</a:t>
            </a:r>
            <a:r>
              <a:rPr lang="en-US" sz="2400" dirty="0"/>
              <a:t> (</a:t>
            </a:r>
            <a:r>
              <a:rPr lang="en-US" sz="2400" dirty="0" err="1"/>
              <a:t>IaC</a:t>
            </a:r>
            <a:r>
              <a:rPr lang="en-US" sz="2400" dirty="0"/>
              <a:t>) tool.</a:t>
            </a:r>
          </a:p>
          <a:p>
            <a:r>
              <a:rPr lang="en-US" sz="2400" b="1" dirty="0"/>
              <a:t>Core Concepts:</a:t>
            </a:r>
          </a:p>
          <a:p>
            <a:pPr lvl="1"/>
            <a:r>
              <a:rPr lang="en-US" sz="1800" b="1" dirty="0"/>
              <a:t>Procedural Approach: </a:t>
            </a:r>
            <a:r>
              <a:rPr lang="en-US" sz="1800" dirty="0"/>
              <a:t>Executes tasks as a step-by-step list in the order they are written within "Playbooks".</a:t>
            </a:r>
          </a:p>
          <a:p>
            <a:pPr lvl="1"/>
            <a:r>
              <a:rPr lang="en-US" sz="1800" b="1" dirty="0"/>
              <a:t>Agentless Architecture</a:t>
            </a:r>
            <a:r>
              <a:rPr lang="en-US" sz="1800" dirty="0"/>
              <a:t>: Communicates via standard protocols like SSH or </a:t>
            </a:r>
            <a:r>
              <a:rPr lang="en-US" sz="1800" dirty="0" err="1"/>
              <a:t>WinRM</a:t>
            </a:r>
            <a:r>
              <a:rPr lang="en-US" sz="1800" dirty="0"/>
              <a:t>; no software needs to be installed on target nodes.</a:t>
            </a:r>
          </a:p>
          <a:p>
            <a:pPr lvl="1"/>
            <a:r>
              <a:rPr lang="en-US" sz="1800" b="1" dirty="0"/>
              <a:t>Idempotency: </a:t>
            </a:r>
            <a:r>
              <a:rPr lang="en-US" sz="1800" dirty="0"/>
              <a:t>Modules are designed to apply a change only if the target system is not already in the desired state.</a:t>
            </a:r>
            <a:endParaRPr lang="en-SG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F3AD7-507B-45C7-F642-B4F33E9B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CF22E-5270-1FF0-B64F-A755EDE81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8CD8-2416-D279-1C1F-80B7B618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51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B59E-E9D6-17FF-2D1E-38BFDC1B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Terraform?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7C5AB-BE85-82BE-3840-0B3A9F876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Role</a:t>
            </a:r>
            <a:r>
              <a:rPr lang="en-US" sz="2400" dirty="0"/>
              <a:t>: A dedicated Infrastructure Provisioning tool designed to build, change, and version cloud and on-prem resources.</a:t>
            </a:r>
          </a:p>
          <a:p>
            <a:r>
              <a:rPr lang="en-US" sz="2600" b="1" dirty="0"/>
              <a:t>Core Concepts</a:t>
            </a:r>
            <a:r>
              <a:rPr lang="en-US" sz="2600" dirty="0"/>
              <a:t>:</a:t>
            </a:r>
          </a:p>
          <a:p>
            <a:pPr lvl="1"/>
            <a:r>
              <a:rPr lang="en-US" sz="1800" b="1" dirty="0"/>
              <a:t>Declarative Syntax</a:t>
            </a:r>
            <a:r>
              <a:rPr lang="en-US" sz="1800" dirty="0"/>
              <a:t>: You define the desired end state (e.g., "I want 5 servers") and Terraform handles the steps to get there.</a:t>
            </a:r>
          </a:p>
          <a:p>
            <a:pPr lvl="1"/>
            <a:r>
              <a:rPr lang="en-US" sz="1800" b="1" dirty="0"/>
              <a:t>State Management</a:t>
            </a:r>
            <a:r>
              <a:rPr lang="en-US" sz="1800" dirty="0"/>
              <a:t>: Uses a </a:t>
            </a:r>
            <a:r>
              <a:rPr lang="en-US" sz="1600" b="1" dirty="0" err="1"/>
              <a:t>terraform.tfstate</a:t>
            </a:r>
            <a:r>
              <a:rPr lang="en-US" sz="1600" b="1" dirty="0"/>
              <a:t> </a:t>
            </a:r>
            <a:r>
              <a:rPr lang="en-US" sz="1800" dirty="0"/>
              <a:t>file to track the current status of managed resources.</a:t>
            </a:r>
          </a:p>
          <a:p>
            <a:pPr lvl="1"/>
            <a:r>
              <a:rPr lang="en-US" sz="1800" b="1" dirty="0"/>
              <a:t>Multi-Cloud Support</a:t>
            </a:r>
            <a:r>
              <a:rPr lang="en-US" sz="1800" dirty="0"/>
              <a:t>: Interfaces with nearly every public cloud (AWS, Azure, GCP) through specialized "Providers".</a:t>
            </a:r>
          </a:p>
          <a:p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2EF6F-C601-C83F-BDCE-49359F6D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68DC3-E168-7F78-C8F8-711ED1586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4FAB2-E895-804C-90FA-BD98017E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3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3103"/>
            <a:ext cx="8229600" cy="1143000"/>
          </a:xfrm>
        </p:spPr>
        <p:txBody>
          <a:bodyPr>
            <a:normAutofit/>
          </a:bodyPr>
          <a:lstStyle/>
          <a:p>
            <a:r>
              <a:rPr lang="en-SG" dirty="0"/>
              <a:t>Infrastructure as Code (</a:t>
            </a:r>
            <a:r>
              <a:rPr lang="en-SG" dirty="0" err="1"/>
              <a:t>IaC</a:t>
            </a:r>
            <a:r>
              <a:rPr lang="en-SG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5"/>
          </a:xfrm>
        </p:spPr>
        <p:txBody>
          <a:bodyPr>
            <a:normAutofit/>
          </a:bodyPr>
          <a:lstStyle/>
          <a:p>
            <a:r>
              <a:rPr lang="en-US" sz="2400" b="1" dirty="0"/>
              <a:t>Definition</a:t>
            </a:r>
            <a:r>
              <a:rPr lang="en-US" sz="2400" dirty="0"/>
              <a:t>: Managing and provisioning IT infrastructure through machine-readable </a:t>
            </a:r>
            <a:r>
              <a:rPr lang="en-US" sz="2400" b="1" dirty="0"/>
              <a:t>definition files</a:t>
            </a:r>
            <a:r>
              <a:rPr lang="en-US" sz="2400" dirty="0"/>
              <a:t>, rather than manual hardware configuration or interactive tools. Examples include Ansible &amp; Terraform.</a:t>
            </a:r>
          </a:p>
          <a:p>
            <a:r>
              <a:rPr lang="en-US" sz="2400" b="1" dirty="0"/>
              <a:t>Key Benefits</a:t>
            </a:r>
            <a:r>
              <a:rPr lang="en-US" sz="2400" dirty="0"/>
              <a:t>:</a:t>
            </a:r>
          </a:p>
          <a:p>
            <a:pPr lvl="1"/>
            <a:r>
              <a:rPr lang="en-US" sz="1800" b="1" dirty="0"/>
              <a:t>Consistency</a:t>
            </a:r>
            <a:r>
              <a:rPr lang="en-US" sz="1800" dirty="0"/>
              <a:t>: Eliminates "it works on my machine" issues by deploying identical environments every time.</a:t>
            </a:r>
          </a:p>
          <a:p>
            <a:pPr lvl="1"/>
            <a:r>
              <a:rPr lang="en-US" sz="1800" b="1" dirty="0"/>
              <a:t>Speed</a:t>
            </a:r>
            <a:r>
              <a:rPr lang="en-US" sz="1800" dirty="0"/>
              <a:t>: Automates manual processes to reduce delivery time from days to minutes.</a:t>
            </a:r>
          </a:p>
          <a:p>
            <a:pPr lvl="1"/>
            <a:r>
              <a:rPr lang="en-US" sz="1800" b="1" dirty="0"/>
              <a:t>Version Control</a:t>
            </a:r>
            <a:r>
              <a:rPr lang="en-US" sz="1800" dirty="0"/>
              <a:t>: Track changes to your infrastructure just like application code.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0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6382-72E2-F765-D6DE-6B98F50A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1143000"/>
          </a:xfrm>
        </p:spPr>
        <p:txBody>
          <a:bodyPr/>
          <a:lstStyle/>
          <a:p>
            <a:r>
              <a:rPr lang="en-US" dirty="0"/>
              <a:t>Why Ansible/Terraform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13BF4-7DD9-0290-8E97-1310D5AD9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705279"/>
          </a:xfrm>
        </p:spPr>
        <p:txBody>
          <a:bodyPr/>
          <a:lstStyle/>
          <a:p>
            <a:r>
              <a:rPr lang="en-SG" sz="2400" dirty="0"/>
              <a:t>According to 6sense, Terraform has 36% market share in config management while Ansible has 32%.</a:t>
            </a:r>
          </a:p>
          <a:p>
            <a:r>
              <a:rPr lang="en-SG" sz="2400" b="1" dirty="0"/>
              <a:t>Industry Standard:</a:t>
            </a:r>
            <a:r>
              <a:rPr lang="en-SG" sz="2400" dirty="0"/>
              <a:t> They are a required skillset for every DevOps Engineer.</a:t>
            </a:r>
          </a:p>
          <a:p>
            <a:r>
              <a:rPr lang="en-SG" sz="2400" b="1" dirty="0"/>
              <a:t>Productivity</a:t>
            </a:r>
            <a:r>
              <a:rPr lang="en-SG" sz="2400" dirty="0"/>
              <a:t>: Write scripts to automate work.</a:t>
            </a:r>
          </a:p>
          <a:p>
            <a:r>
              <a:rPr lang="en-SG" sz="2400" b="1" dirty="0"/>
              <a:t>Business Impact:</a:t>
            </a:r>
            <a:r>
              <a:rPr lang="en-SG" sz="2400" dirty="0"/>
              <a:t> As IOTP matures, we have an increasing number of services/environments. DevOps tools like Ansible/Terraform lets us track &amp; manage everything.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9D2B9-5ABB-55A1-F8B8-D717A0A4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9C457-123B-6EBA-5C67-B9FEB941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FA8BA-1473-4CD4-9A70-E57A2912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2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B1B3D-6E26-3FB7-F7CE-E09E0AC86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720"/>
            <a:ext cx="8229600" cy="1143000"/>
          </a:xfrm>
        </p:spPr>
        <p:txBody>
          <a:bodyPr/>
          <a:lstStyle/>
          <a:p>
            <a:r>
              <a:rPr lang="en-SG" dirty="0"/>
              <a:t>How Config Management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DB32-A125-6E99-3D9C-4272597D9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99331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SG" sz="2400" b="1" dirty="0"/>
              <a:t>Install service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400" b="1" dirty="0"/>
              <a:t>Admin makes changes/add new features.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400" b="1" dirty="0"/>
              <a:t>Run Planning mode (Dry Runs):</a:t>
            </a:r>
          </a:p>
          <a:p>
            <a:pPr lvl="1"/>
            <a:r>
              <a:rPr lang="en-SG" sz="2400" dirty="0"/>
              <a:t>Displays changes (diffs) to config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400" b="1" dirty="0"/>
              <a:t>Decision making:</a:t>
            </a:r>
          </a:p>
          <a:p>
            <a:pPr lvl="1"/>
            <a:r>
              <a:rPr lang="en-SG" sz="2400" dirty="0"/>
              <a:t>Run script to propagate changes</a:t>
            </a:r>
          </a:p>
          <a:p>
            <a:pPr lvl="1"/>
            <a:r>
              <a:rPr lang="en-SG" sz="2400" dirty="0"/>
              <a:t>OR update script to reflect new state.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D7907-FEA3-7B18-4DE2-876579974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E6BA9-29CE-1789-327E-74C1520F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B5DA8-D7EE-9065-BBE6-D25C7A68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2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E8669-8BBA-037F-AD79-73D13E5B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Illustration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2917A-77D2-2C4C-BA66-025B7862C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55F0B-ED3C-FBFB-E9C2-A7C8CD09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05CE8-99DC-D4F5-CDC9-A3E4FAEA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7</a:t>
            </a:fld>
            <a:endParaRPr lang="en-US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77C5E564-0814-10EF-17B6-67CA18F3FB4C}"/>
              </a:ext>
            </a:extLst>
          </p:cNvPr>
          <p:cNvSpPr/>
          <p:nvPr/>
        </p:nvSpPr>
        <p:spPr>
          <a:xfrm>
            <a:off x="762021" y="1114895"/>
            <a:ext cx="1728192" cy="989335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Install service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7C910-8E0C-C46E-9541-04440A61112B}"/>
              </a:ext>
            </a:extLst>
          </p:cNvPr>
          <p:cNvSpPr/>
          <p:nvPr/>
        </p:nvSpPr>
        <p:spPr>
          <a:xfrm>
            <a:off x="647564" y="2521567"/>
            <a:ext cx="1944216" cy="8640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Admin makes changes/add new features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1F7011E3-4402-707D-1F2A-CDA8842E062E}"/>
              </a:ext>
            </a:extLst>
          </p:cNvPr>
          <p:cNvSpPr/>
          <p:nvPr/>
        </p:nvSpPr>
        <p:spPr>
          <a:xfrm>
            <a:off x="3707903" y="2515957"/>
            <a:ext cx="1728193" cy="83542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Display diffs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AEF54B-E698-6424-489C-3AD9382F667D}"/>
              </a:ext>
            </a:extLst>
          </p:cNvPr>
          <p:cNvSpPr/>
          <p:nvPr/>
        </p:nvSpPr>
        <p:spPr>
          <a:xfrm>
            <a:off x="3950929" y="4009475"/>
            <a:ext cx="1242140" cy="6471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Update Ansible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7CCA1E-492B-E629-CB29-F886224EE9A3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591780" y="2933670"/>
            <a:ext cx="1116123" cy="19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5C264E-7854-F781-DDAE-DB7A519B5966}"/>
              </a:ext>
            </a:extLst>
          </p:cNvPr>
          <p:cNvCxnSpPr/>
          <p:nvPr/>
        </p:nvCxnSpPr>
        <p:spPr>
          <a:xfrm>
            <a:off x="1626117" y="2161527"/>
            <a:ext cx="0" cy="36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23870C-A519-30B4-CDC4-43F810571FF4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4571999" y="3351383"/>
            <a:ext cx="1" cy="658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03B984E-3A32-850E-F12E-331EE9B204CC}"/>
              </a:ext>
            </a:extLst>
          </p:cNvPr>
          <p:cNvSpPr txBox="1"/>
          <p:nvPr/>
        </p:nvSpPr>
        <p:spPr>
          <a:xfrm>
            <a:off x="4601444" y="3463075"/>
            <a:ext cx="1669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Accept changes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D7484D-6447-DFFF-80DA-727F486DE050}"/>
              </a:ext>
            </a:extLst>
          </p:cNvPr>
          <p:cNvSpPr txBox="1"/>
          <p:nvPr/>
        </p:nvSpPr>
        <p:spPr>
          <a:xfrm>
            <a:off x="2682629" y="2501622"/>
            <a:ext cx="93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Dry Run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4F61F7-F9E9-FABA-B932-F9A7FDFFF1EF}"/>
              </a:ext>
            </a:extLst>
          </p:cNvPr>
          <p:cNvSpPr/>
          <p:nvPr/>
        </p:nvSpPr>
        <p:spPr>
          <a:xfrm>
            <a:off x="6527343" y="3720530"/>
            <a:ext cx="1194140" cy="9361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Rerun Ansible script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BC93976-1FC3-FB50-1B28-A3437C765D04}"/>
              </a:ext>
            </a:extLst>
          </p:cNvPr>
          <p:cNvCxnSpPr>
            <a:stCxn id="11" idx="3"/>
            <a:endCxn id="39" idx="0"/>
          </p:cNvCxnSpPr>
          <p:nvPr/>
        </p:nvCxnSpPr>
        <p:spPr>
          <a:xfrm>
            <a:off x="5436096" y="2933670"/>
            <a:ext cx="1688317" cy="7868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FB770C-7CDE-92D3-FEE3-FFFEA89ADC07}"/>
              </a:ext>
            </a:extLst>
          </p:cNvPr>
          <p:cNvSpPr txBox="1"/>
          <p:nvPr/>
        </p:nvSpPr>
        <p:spPr>
          <a:xfrm>
            <a:off x="5460810" y="2547692"/>
            <a:ext cx="243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Reject &amp; revert changes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1AC1A20-450B-C19E-8469-57BBE2584483}"/>
              </a:ext>
            </a:extLst>
          </p:cNvPr>
          <p:cNvCxnSpPr>
            <a:stCxn id="39" idx="2"/>
            <a:endCxn id="9" idx="2"/>
          </p:cNvCxnSpPr>
          <p:nvPr/>
        </p:nvCxnSpPr>
        <p:spPr>
          <a:xfrm rot="5400000" flipH="1">
            <a:off x="3736557" y="1268779"/>
            <a:ext cx="1270971" cy="5504741"/>
          </a:xfrm>
          <a:prstGeom prst="bentConnector3">
            <a:avLst>
              <a:gd name="adj1" fmla="val -7364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09F34C5-E12D-5C1A-CA16-13321D5AFB57}"/>
              </a:ext>
            </a:extLst>
          </p:cNvPr>
          <p:cNvCxnSpPr>
            <a:stCxn id="12" idx="2"/>
          </p:cNvCxnSpPr>
          <p:nvPr/>
        </p:nvCxnSpPr>
        <p:spPr>
          <a:xfrm>
            <a:off x="4571999" y="4656634"/>
            <a:ext cx="0" cy="932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28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4066-3396-1D69-4A07-BBB42960F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720"/>
            <a:ext cx="8229600" cy="1143000"/>
          </a:xfrm>
        </p:spPr>
        <p:txBody>
          <a:bodyPr/>
          <a:lstStyle/>
          <a:p>
            <a:r>
              <a:rPr lang="en-SG" dirty="0"/>
              <a:t>How Config Management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4932-8674-0C23-41E5-0FC1AFDDE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2857"/>
            <a:ext cx="8229600" cy="792088"/>
          </a:xfrm>
        </p:spPr>
        <p:txBody>
          <a:bodyPr>
            <a:normAutofit fontScale="85000" lnSpcReduction="20000"/>
          </a:bodyPr>
          <a:lstStyle/>
          <a:p>
            <a:r>
              <a:rPr lang="en-SG" dirty="0"/>
              <a:t>Diff Example (Ansible):</a:t>
            </a:r>
            <a:br>
              <a:rPr lang="en-SG" dirty="0"/>
            </a:br>
            <a:endParaRPr lang="en-SG" dirty="0"/>
          </a:p>
          <a:p>
            <a:endParaRPr lang="en-SG" dirty="0"/>
          </a:p>
          <a:p>
            <a:endParaRPr lang="en-SG" sz="24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D3315-CBC3-09C4-611B-134B3A25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E8AAB-4374-CA5E-A356-16AC63E6D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239C7-CC12-4973-5352-55F70CDEB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8</a:t>
            </a:fld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CA0BC707-17EF-E0A8-96F3-B182A41943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D65E03-478E-8873-72DF-46227E49A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5" y="2757312"/>
            <a:ext cx="3552825" cy="223837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5B134FC-A3F5-02E3-3D34-9629320A54FD}"/>
              </a:ext>
            </a:extLst>
          </p:cNvPr>
          <p:cNvSpPr txBox="1">
            <a:spLocks/>
          </p:cNvSpPr>
          <p:nvPr/>
        </p:nvSpPr>
        <p:spPr>
          <a:xfrm>
            <a:off x="3256885" y="5115504"/>
            <a:ext cx="3039804" cy="535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SG" sz="1400" i="1" dirty="0"/>
              <a:t>Script will change </a:t>
            </a:r>
            <a:r>
              <a:rPr lang="en-SG" sz="1400" i="1" dirty="0" err="1"/>
              <a:t>url</a:t>
            </a:r>
            <a:r>
              <a:rPr lang="en-SG" sz="1400" i="1" dirty="0"/>
              <a:t> from `10.76.1.21` to `10.76.1.154` if applied</a:t>
            </a:r>
            <a:endParaRPr lang="en-SG" sz="2400" i="1" dirty="0"/>
          </a:p>
        </p:txBody>
      </p:sp>
    </p:spTree>
    <p:extLst>
      <p:ext uri="{BB962C8B-B14F-4D97-AF65-F5344CB8AC3E}">
        <p14:creationId xmlns:p14="http://schemas.microsoft.com/office/powerpoint/2010/main" val="204942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BD02A-6292-E718-9861-2DC2FB8B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CFF6B4-8EF1-796B-478C-23109455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924944"/>
            <a:ext cx="8229600" cy="1143000"/>
          </a:xfrm>
        </p:spPr>
        <p:txBody>
          <a:bodyPr/>
          <a:lstStyle/>
          <a:p>
            <a:r>
              <a:rPr lang="en-SG" dirty="0"/>
              <a:t>Live demo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1D20CE-6A54-043E-0A35-E30EA1AA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C43C6-E942-480B-85C1-016BD1995FEC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077DB2-AB1B-4E96-903A-C127A4A6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B9E73-B515-26CD-DA93-BECB7AB8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08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1B22-BC3F-D6E1-4306-B432D6EB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6E65-3E6F-4D29-0982-AA572453E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2400" b="1"/>
              <a:t>Scenario: </a:t>
            </a:r>
            <a:r>
              <a:rPr lang="en-SG" sz="2400"/>
              <a:t>IOTP </a:t>
            </a:r>
            <a:r>
              <a:rPr lang="en-SG" sz="2400" dirty="0"/>
              <a:t>deploys </a:t>
            </a:r>
            <a:r>
              <a:rPr lang="en-SG" sz="2400" dirty="0" err="1"/>
              <a:t>onprem</a:t>
            </a:r>
            <a:r>
              <a:rPr lang="en-SG" sz="2400" dirty="0"/>
              <a:t> using Ansible. Afterwards, some issues were discovered and fixed, including config changes.</a:t>
            </a:r>
          </a:p>
          <a:p>
            <a:r>
              <a:rPr lang="en-SG" sz="2400" b="1" dirty="0"/>
              <a:t>Resolution: </a:t>
            </a:r>
            <a:r>
              <a:rPr lang="en-SG" sz="2400" dirty="0"/>
              <a:t>Ansible script is updated to reflect new </a:t>
            </a:r>
            <a:r>
              <a:rPr lang="en-SG" sz="2400" dirty="0" err="1"/>
              <a:t>onprem</a:t>
            </a:r>
            <a:r>
              <a:rPr lang="en-SG" sz="2400" dirty="0"/>
              <a:t> state.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63D0F-C67D-C0DE-6276-B9A769039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28AAA-CE5F-9B48-9A8F-BA2E9013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61230-DB89-E24D-7A64-7F177A7A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729A0-DDD6-6188-0F19-119F00D1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(Fake)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BF76E-5B01-BCC8-BF96-D428453A7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b="1" dirty="0"/>
              <a:t>Scenario: </a:t>
            </a:r>
            <a:r>
              <a:rPr lang="en-SG" sz="2400" dirty="0"/>
              <a:t>PSL team needs to setup a new </a:t>
            </a:r>
            <a:r>
              <a:rPr lang="en-SG" sz="2400" dirty="0" err="1"/>
              <a:t>onprem</a:t>
            </a:r>
            <a:r>
              <a:rPr lang="en-SG" sz="2400" dirty="0"/>
              <a:t> IOTP server.</a:t>
            </a:r>
          </a:p>
          <a:p>
            <a:r>
              <a:rPr lang="en-SG" sz="2400" b="1" dirty="0"/>
              <a:t>Resolution: </a:t>
            </a:r>
            <a:r>
              <a:rPr lang="en-SG" sz="2400" dirty="0"/>
              <a:t>PSL team writes an Ansible script to deploy PSL adaptor</a:t>
            </a:r>
            <a:r>
              <a:rPr lang="en-SG" sz="2400"/>
              <a:t>, networks, etc.</a:t>
            </a:r>
            <a:endParaRPr lang="en-SG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CA0DD-E2F2-482D-6810-9C9BF002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41EA1-47DA-EEEC-2849-10AEA49D7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712D0-5D04-086B-3EFC-02F449E0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14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C46FA-DBB9-D066-F119-D0BEBA77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0129-CEBE-225A-92A5-AD2D2B587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(Fake)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0B464-D16F-C449-1EE3-12A3F3768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b="1" dirty="0"/>
              <a:t>Scenario: </a:t>
            </a:r>
            <a:r>
              <a:rPr lang="en-SG" sz="2400" dirty="0"/>
              <a:t>VER team plans to set up a new Test server for running tests. New server needs the same libraries and config as existing test servers.</a:t>
            </a:r>
          </a:p>
          <a:p>
            <a:r>
              <a:rPr lang="en-SG" sz="2400" b="1" dirty="0"/>
              <a:t>Resolution: </a:t>
            </a:r>
            <a:r>
              <a:rPr lang="en-SG" sz="2400" dirty="0"/>
              <a:t>VER team writes an Ansible script to deploy new test servers, based on existing servers.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0260B-172D-F816-6A46-542282A9E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80389-D33E-8428-F911-F47691CBE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C971-11A3-4D3D-69FF-40F01CD5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87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B52B-FCF5-305D-D8F8-762C6487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(Fake)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F5D6-24C8-A7A1-D71A-1BEBA3CCE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b="1" dirty="0"/>
              <a:t>Scenario: </a:t>
            </a:r>
            <a:r>
              <a:rPr lang="en-SG" sz="2400" dirty="0"/>
              <a:t>SYS team creates a test setup (state A). After running tests (including config changes), SYS team wishes to revert to state A.</a:t>
            </a:r>
          </a:p>
          <a:p>
            <a:r>
              <a:rPr lang="en-SG" sz="2400" b="1" dirty="0"/>
              <a:t>Resolution: </a:t>
            </a:r>
            <a:r>
              <a:rPr lang="en-SG" sz="2400" dirty="0"/>
              <a:t>SYS team writes an Ansible script to setup a test (state A). After running tests, SYS team can rerun Ansible script to revert config changes.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E6479-F8D7-C08C-1E02-9E73D048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FBB5-61ED-4C67-BF8C-4C488AF895BC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41AC9-246D-5467-AB7C-1E227D401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7C3CD-61A2-9D65-4262-A2030945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57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9552" y="2924944"/>
            <a:ext cx="8229600" cy="1143000"/>
          </a:xfrm>
        </p:spPr>
        <p:txBody>
          <a:bodyPr/>
          <a:lstStyle/>
          <a:p>
            <a:r>
              <a:rPr lang="en-SG" dirty="0"/>
              <a:t>Q &amp; 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C43C6-E942-480B-85C1-016BD1995FEC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Product Team Weekly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EA3C-EBD8-6A49-92FF-780F56F6FF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78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3DE18F11A77D4CB09BADA3F2B6C300" ma:contentTypeVersion="0" ma:contentTypeDescription="Create a new document." ma:contentTypeScope="" ma:versionID="8136b7facd73e4597a68e33e133b5753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59A701-2CFC-47F6-8774-28DF703A8D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6C131C66-AD92-4859-82F6-E56476354ACD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46A0AD6-F812-4123-B216-A15515A17A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Bridgetek-Template</Template>
  <TotalTime>252</TotalTime>
  <Words>700</Words>
  <Application>Microsoft Office PowerPoint</Application>
  <PresentationFormat>On-screen Show (4:3)</PresentationFormat>
  <Paragraphs>98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Intro to Ansible/Terraform</vt:lpstr>
      <vt:lpstr>What is Ansible?</vt:lpstr>
      <vt:lpstr>What is Terraform?</vt:lpstr>
      <vt:lpstr>Infrastructure as Code (IaC)</vt:lpstr>
      <vt:lpstr>Why Ansible/Terraform</vt:lpstr>
      <vt:lpstr>How Config Management works</vt:lpstr>
      <vt:lpstr>Illustration</vt:lpstr>
      <vt:lpstr>How Config Management works</vt:lpstr>
      <vt:lpstr>Live demo</vt:lpstr>
      <vt:lpstr>Scenarios</vt:lpstr>
      <vt:lpstr>(Fake) Scenarios</vt:lpstr>
      <vt:lpstr>(Fake) Scenarios</vt:lpstr>
      <vt:lpstr>(Fake) Scenarios</vt:lpstr>
      <vt:lpstr>Q &amp; A</vt:lpstr>
    </vt:vector>
  </TitlesOfParts>
  <Company>Future Technology Devices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Jalaludin (BRT-SG)</dc:creator>
  <cp:lastModifiedBy>Ching Jia Chin (BRTSYS-SG)</cp:lastModifiedBy>
  <cp:revision>30</cp:revision>
  <dcterms:created xsi:type="dcterms:W3CDTF">2021-04-06T03:17:11Z</dcterms:created>
  <dcterms:modified xsi:type="dcterms:W3CDTF">2026-06-09T06:22:48Z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0x010100373DE18F11A77D4CB09BADA3F2B6C300</vt:lpwstr>
  </property>
</Properties>
</file>